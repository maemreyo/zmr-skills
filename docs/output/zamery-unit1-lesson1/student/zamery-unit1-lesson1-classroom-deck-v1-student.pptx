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5fb55c76ff43ea" /><Relationship Type="http://schemas.openxmlformats.org/officeDocument/2006/relationships/extended-properties" Target="/docProps/app.xml" Id="R29e46ab4bd3749b0" /><Relationship Type="http://schemas.openxmlformats.org/officeDocument/2006/relationships/officeDocument" Target="/ppt/presentation.xml" Id="R2214dacb37d9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a177d3596f44f1"/>
  </p:sldMasterIdLst>
  <p:notesMasterIdLst>
    <p:notesMasterId xmlns:r="http://schemas.openxmlformats.org/officeDocument/2006/relationships" r:id="R4f414e4e152f496c"/>
  </p:notesMasterIdLst>
  <p:sldIdLst>
    <p:sldId xmlns:r="http://schemas.openxmlformats.org/officeDocument/2006/relationships" id="256" r:id="R7256d16159354245"/>
    <p:sldId xmlns:r="http://schemas.openxmlformats.org/officeDocument/2006/relationships" id="257" r:id="R804ea04c5856494e"/>
    <p:sldId xmlns:r="http://schemas.openxmlformats.org/officeDocument/2006/relationships" id="258" r:id="Rb3e7af34477d450b"/>
    <p:sldId xmlns:r="http://schemas.openxmlformats.org/officeDocument/2006/relationships" id="259" r:id="R87165a2af754444b"/>
    <p:sldId xmlns:r="http://schemas.openxmlformats.org/officeDocument/2006/relationships" id="260" r:id="R9608b77977fb491c"/>
    <p:sldId xmlns:r="http://schemas.openxmlformats.org/officeDocument/2006/relationships" id="261" r:id="R92e873acf73148e5"/>
    <p:sldId xmlns:r="http://schemas.openxmlformats.org/officeDocument/2006/relationships" id="262" r:id="R2cb0eb5994d14829"/>
    <p:sldId xmlns:r="http://schemas.openxmlformats.org/officeDocument/2006/relationships" id="263" r:id="Rcf81ea102ce041db"/>
    <p:sldId xmlns:r="http://schemas.openxmlformats.org/officeDocument/2006/relationships" id="264" r:id="R2f0bb4bd85c14e9b"/>
    <p:sldId xmlns:r="http://schemas.openxmlformats.org/officeDocument/2006/relationships" id="265" r:id="R944ebb1c9f9943df"/>
    <p:sldId xmlns:r="http://schemas.openxmlformats.org/officeDocument/2006/relationships" id="266" r:id="Rbc213852fd184831"/>
    <p:sldId xmlns:r="http://schemas.openxmlformats.org/officeDocument/2006/relationships" id="267" r:id="R213e82e6856740ec"/>
    <p:sldId xmlns:r="http://schemas.openxmlformats.org/officeDocument/2006/relationships" id="268" r:id="R74f6435a3b154737"/>
    <p:sldId xmlns:r="http://schemas.openxmlformats.org/officeDocument/2006/relationships" id="269" r:id="Rb1b46e71118b435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0277c472024342" /><Relationship Type="http://schemas.openxmlformats.org/officeDocument/2006/relationships/slideMaster" Target="/ppt/slideMasters/slideMaster1.xml" Id="R7da177d3596f44f1" /><Relationship Type="http://schemas.openxmlformats.org/officeDocument/2006/relationships/notesMaster" Target="/ppt/notesMasters/notesMaster1.xml" Id="R4f414e4e152f496c" /><Relationship Type="http://schemas.openxmlformats.org/officeDocument/2006/relationships/presProps" Target="/ppt/presProps.xml" Id="R265016066ac74809" /><Relationship Type="http://schemas.openxmlformats.org/officeDocument/2006/relationships/tableStyles" Target="/ppt/tableStyles.xml" Id="Rdb34f1523450450f" /><Relationship Type="http://schemas.openxmlformats.org/officeDocument/2006/relationships/slide" Target="/ppt/slides/slide1.xml" Id="R7256d16159354245" /><Relationship Type="http://schemas.openxmlformats.org/officeDocument/2006/relationships/slide" Target="/ppt/slides/slide2.xml" Id="R804ea04c5856494e" /><Relationship Type="http://schemas.openxmlformats.org/officeDocument/2006/relationships/slide" Target="/ppt/slides/slide3.xml" Id="Rb3e7af34477d450b" /><Relationship Type="http://schemas.openxmlformats.org/officeDocument/2006/relationships/slide" Target="/ppt/slides/slide4.xml" Id="R87165a2af754444b" /><Relationship Type="http://schemas.openxmlformats.org/officeDocument/2006/relationships/slide" Target="/ppt/slides/slide5.xml" Id="R9608b77977fb491c" /><Relationship Type="http://schemas.openxmlformats.org/officeDocument/2006/relationships/slide" Target="/ppt/slides/slide6.xml" Id="R92e873acf73148e5" /><Relationship Type="http://schemas.openxmlformats.org/officeDocument/2006/relationships/slide" Target="/ppt/slides/slide7.xml" Id="R2cb0eb5994d14829" /><Relationship Type="http://schemas.openxmlformats.org/officeDocument/2006/relationships/slide" Target="/ppt/slides/slide8.xml" Id="Rcf81ea102ce041db" /><Relationship Type="http://schemas.openxmlformats.org/officeDocument/2006/relationships/slide" Target="/ppt/slides/slide9.xml" Id="R2f0bb4bd85c14e9b" /><Relationship Type="http://schemas.openxmlformats.org/officeDocument/2006/relationships/slide" Target="/ppt/slides/slide10.xml" Id="R944ebb1c9f9943df" /><Relationship Type="http://schemas.openxmlformats.org/officeDocument/2006/relationships/slide" Target="/ppt/slides/slide11.xml" Id="Rbc213852fd184831" /><Relationship Type="http://schemas.openxmlformats.org/officeDocument/2006/relationships/slide" Target="/ppt/slides/slide12.xml" Id="R213e82e6856740ec" /><Relationship Type="http://schemas.openxmlformats.org/officeDocument/2006/relationships/slide" Target="/ppt/slides/slide13.xml" Id="R74f6435a3b154737" /><Relationship Type="http://schemas.openxmlformats.org/officeDocument/2006/relationships/slide" Target="/ppt/slides/slide14.xml" Id="Rb1b46e71118b43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1871ff1dac4b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e97d4468034825" /><Relationship Type="http://schemas.openxmlformats.org/officeDocument/2006/relationships/notesMaster" Target="/ppt/notesMasters/notesMaster1.xml" Id="Raf870d226aac45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e5e6319ee24213" /><Relationship Type="http://schemas.openxmlformats.org/officeDocument/2006/relationships/notesMaster" Target="/ppt/notesMasters/notesMaster1.xml" Id="R78b41fd3d8f5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dd395499424c77" /><Relationship Type="http://schemas.openxmlformats.org/officeDocument/2006/relationships/notesMaster" Target="/ppt/notesMasters/notesMaster1.xml" Id="R4fcf302865074d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24156f5b09456a" /><Relationship Type="http://schemas.openxmlformats.org/officeDocument/2006/relationships/notesMaster" Target="/ppt/notesMasters/notesMaster1.xml" Id="R9cb9161e6c6d44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ed621c6dc24e2a" /><Relationship Type="http://schemas.openxmlformats.org/officeDocument/2006/relationships/notesMaster" Target="/ppt/notesMasters/notesMaster1.xml" Id="R4dcd1deb537549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2981d553724bb1" /><Relationship Type="http://schemas.openxmlformats.org/officeDocument/2006/relationships/notesMaster" Target="/ppt/notesMasters/notesMaster1.xml" Id="Re414537a4d544f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19a64b13d64a80" /><Relationship Type="http://schemas.openxmlformats.org/officeDocument/2006/relationships/notesMaster" Target="/ppt/notesMasters/notesMaster1.xml" Id="R360a9a4f9a1a4c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6adb78f24f4f48" /><Relationship Type="http://schemas.openxmlformats.org/officeDocument/2006/relationships/notesMaster" Target="/ppt/notesMasters/notesMaster1.xml" Id="R73affcc5998346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32c0a7eb85420a" /><Relationship Type="http://schemas.openxmlformats.org/officeDocument/2006/relationships/notesMaster" Target="/ppt/notesMasters/notesMaster1.xml" Id="R3abf3e8dbbe54b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ad7cdd3fac406f" /><Relationship Type="http://schemas.openxmlformats.org/officeDocument/2006/relationships/notesMaster" Target="/ppt/notesMasters/notesMaster1.xml" Id="Ra9e8d3da127a4b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49e45f35d04a1d" /><Relationship Type="http://schemas.openxmlformats.org/officeDocument/2006/relationships/notesMaster" Target="/ppt/notesMasters/notesMaster1.xml" Id="R7dbfef32756246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55473007a64a4b" /><Relationship Type="http://schemas.openxmlformats.org/officeDocument/2006/relationships/notesMaster" Target="/ppt/notesMasters/notesMaster1.xml" Id="Rc0c54e471b2a4c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2cba135ef443ed" /><Relationship Type="http://schemas.openxmlformats.org/officeDocument/2006/relationships/notesMaster" Target="/ppt/notesMasters/notesMaster1.xml" Id="R936e9eccfb3841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a950e640414840" /><Relationship Type="http://schemas.openxmlformats.org/officeDocument/2006/relationships/notesMaster" Target="/ppt/notesMasters/notesMaster1.xml" Id="R84177fe40d87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f7206e1e3847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1df737f4a494d" /><Relationship Type="http://schemas.openxmlformats.org/officeDocument/2006/relationships/slideLayout" Target="/ppt/slideLayouts/slideLayout1.xml" Id="Ra984f70395e744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84f70395e744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3f7ed55f7450e" /><Relationship Type="http://schemas.openxmlformats.org/officeDocument/2006/relationships/notesSlide" Target="/ppt/notesSlides/notesSlide1.xml" Id="R2d5e3f52971d45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52b2740244c57" /><Relationship Type="http://schemas.openxmlformats.org/officeDocument/2006/relationships/notesSlide" Target="/ppt/notesSlides/notesSlide2.xml" Id="Ra361c8ceafa14f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6bee0394e411b" /><Relationship Type="http://schemas.openxmlformats.org/officeDocument/2006/relationships/notesSlide" Target="/ppt/notesSlides/notesSlide3.xml" Id="R2338c74e7aae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0b7ffdee64b4a" /><Relationship Type="http://schemas.openxmlformats.org/officeDocument/2006/relationships/notesSlide" Target="/ppt/notesSlides/notesSlide4.xml" Id="Rd80de7e9ade04d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68a5f224d4cc6" /><Relationship Type="http://schemas.openxmlformats.org/officeDocument/2006/relationships/notesSlide" Target="/ppt/notesSlides/notesSlide5.xml" Id="Rf22761bf46c04c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06d5e84c84710" /><Relationship Type="http://schemas.openxmlformats.org/officeDocument/2006/relationships/notesSlide" Target="/ppt/notesSlides/notesSlide6.xml" Id="R40569d34c6294a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2a9936fb4d0f" /><Relationship Type="http://schemas.openxmlformats.org/officeDocument/2006/relationships/notesSlide" Target="/ppt/notesSlides/notesSlide7.xml" Id="Re0f4ef24469b42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d33c0608a4bda" /><Relationship Type="http://schemas.openxmlformats.org/officeDocument/2006/relationships/notesSlide" Target="/ppt/notesSlides/notesSlide8.xml" Id="Rc61ca9a9881646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35e6f7f244569" /><Relationship Type="http://schemas.openxmlformats.org/officeDocument/2006/relationships/notesSlide" Target="/ppt/notesSlides/notesSlide9.xml" Id="Rf88f50ac488f40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695ad32474233" /><Relationship Type="http://schemas.openxmlformats.org/officeDocument/2006/relationships/notesSlide" Target="/ppt/notesSlides/notesSlide10.xml" Id="Rfde9e86dc5dd4b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c9febcb5045a5" /><Relationship Type="http://schemas.openxmlformats.org/officeDocument/2006/relationships/notesSlide" Target="/ppt/notesSlides/notesSlide11.xml" Id="R80fbc726d6a64c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24819b7b4401c" /><Relationship Type="http://schemas.openxmlformats.org/officeDocument/2006/relationships/notesSlide" Target="/ppt/notesSlides/notesSlide12.xml" Id="Rea237e2e04464b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1e0ddb95c49cb" /><Relationship Type="http://schemas.openxmlformats.org/officeDocument/2006/relationships/notesSlide" Target="/ppt/notesSlides/notesSlide13.xml" Id="Re7db24ad8cc341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f3bc44e024588" /><Relationship Type="http://schemas.openxmlformats.org/officeDocument/2006/relationships/notesSlide" Target="/ppt/notesSlides/notesSlide14.xml" Id="Rc62404821cbf47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48904-7EE5-4AA2-A5AB-84D81E88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zamery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325A4-5833-4EDA-8442-1FD0DDBD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7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4"/>
                </a:solidFill>
              </a:defRPr>
            </a:pPr>
            <a:r>
              <a:rPr sz="975" b="0">
                <a:solidFill>
                  <a:srgbClr val="F4EEE4"/>
                </a:solidFill>
              </a:rPr>
              <a:t>rooted in strength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C28C8-7169-4218-989C-69D83AF8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2190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1DC1D-EEDF-411C-9A3B-42BE903D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UNIT 1 · LESSON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20380-73C7-4543-9CCC-D700A418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My Daily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Routine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EF588-BD6D-4A11-81E2-127FAC9B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AF2"/>
                </a:solidFill>
              </a:defRPr>
            </a:pPr>
            <a:r>
              <a:rPr sz="2025" b="0">
                <a:solidFill>
                  <a:srgbClr val="DCEAF2"/>
                </a:solidFill>
              </a:rPr>
              <a:t>Look. Think. Speak. Improve.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F4643-690E-4D47-A7D4-6A0A1FAF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4000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0">
            <a:solidFill>
              <a:srgbClr val="F4EE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4A128-71EE-4D9A-9F4A-E620749A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C66B1-1C07-411E-8F1E-1A74911E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906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FC5BD-5D09-4037-ABA3-69DCB705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get 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B4003-E664-4ACE-99E2-F0435371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2882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98508-D642-4AB5-9368-C1F5ECC8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383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F63E7-7BE1-401F-BCE4-E00841E9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574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85B5E-3C64-4C22-8A60-525ED466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3BB06-EF16-40DA-B52A-04B3CE3F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69557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B8E23-5B17-4CB1-B630-CC49CFBC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051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1755A-B41A-4136-82AA-35ABC01C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241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490D2-5BAB-4FA1-8913-43694832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relax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471F5-BF56-400F-AFD7-7FE25750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6232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E07A2-5E00-4F91-8F44-813519E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7187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FDB59-E605-4209-9F79-9B31456F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909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2C175-3472-4866-8B01-2F41FF4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go online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D0655-6602-433D-A283-24329C86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29075"/>
            <a:ext cx="381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CC27F-24FB-4BB3-8D27-68D25AF9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38625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D0D86-BA18-4583-BF87-EBFDFAD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576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3FD6C-5493-4477-8E21-019B148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go to bed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033A2-2B71-4C11-A159-D011B791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AF2"/>
                </a:solidFill>
              </a:defRPr>
            </a:pPr>
            <a:r>
              <a:rPr sz="1050" b="1">
                <a:solidFill>
                  <a:srgbClr val="DCEAF2"/>
                </a:solidFill>
              </a:rPr>
              <a:t>105 MINUTES · ONLINE 1-TO-1</a:t>
            </a:r>
          </a:p>
        </p:txBody>
      </p:sp>
    </p:spTree>
    <p:extLst>
      <p:ext uri="{BB962C8B-B14F-4D97-AF65-F5344CB8AC3E}">
        <p14:creationId xmlns:p14="http://schemas.microsoft.com/office/powerpoint/2010/main" val="686465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561B9-B7A5-4A15-A418-0924796F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3921D-B3A0-4B00-8954-87750403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A77D0-469E-4283-9ADB-CFD12EF5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D01A3-92E6-473F-A80E-0697285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7266A-A595-41F3-AC2D-40EA2B72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155D-4876-449B-9343-8F798020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C6E83-4545-4BB1-BE81-5B594811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2F580-730C-449C-B0EA-FA8F15A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Today’s 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EA66B-A195-4909-B33B-460164C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Know what success looks like before we begin.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FC4A0-C8E6-4E89-9E4D-ED54663D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529E6-56DD-44B3-AC09-8F6CF26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53D45-47E1-49A4-90A5-7268044C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8/10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7C689-CF8D-431F-BE21-ABD0920C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routine phrases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9DF57-B4C3-41A7-B12B-000ACABF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3362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1C901-DF70-479C-97AA-654ACB97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33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91718-A2EF-40AD-A213-B89F56A2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69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5/7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15805-7801-48D6-AC02-E6801C0D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reading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6C47B-17ED-491A-A2C4-02284319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CB437-10BF-4D1B-99EA-D772E1C1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29B08-7309-4EF2-A737-B15DBA9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669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8/10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F632B-DC40-4B4A-9111-8BFE7743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grammar choices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1A6F16-583F-4C95-96FF-50B0154E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8EBB6-6349-421D-B731-B7D35432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FF1E4-395E-4482-9CFB-EFFA3C0E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669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435"/>
                </a:solidFill>
              </a:defRPr>
            </a:pPr>
            <a:r>
              <a:rPr sz="1350" b="1">
                <a:solidFill>
                  <a:srgbClr val="B85435"/>
                </a:solidFill>
              </a:rPr>
              <a:t>60–90s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1D5CE-2A89-4456-B7DE-13298BF8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speak, then redo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78254-E9F0-413A-A3E0-39E1D956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10972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3FBACE-9548-48EF-831B-3A4A3545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First, show what you can do now.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E2BED4-4E28-4F39-A686-24269CBC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EAF2"/>
                </a:solidFill>
              </a:defRPr>
            </a:pPr>
            <a:r>
              <a:rPr sz="1800" b="1">
                <a:solidFill>
                  <a:srgbClr val="DCEAF2"/>
                </a:solidFill>
              </a:rPr>
              <a:t>Then, use clues to make it more reliable.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1BBA4-2E3E-44EF-BD18-D4780D9D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4"/>
                </a:solidFill>
              </a:defRPr>
            </a:pPr>
            <a:r>
              <a:rPr sz="1350" b="0">
                <a:solidFill>
                  <a:srgbClr val="F4EEE4"/>
                </a:solidFill>
              </a:rPr>
              <a:t>This starting-point check is not a grade.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CF733-8EF1-4447-92DE-8F66E37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Speak · Think · Prove</a:t>
            </a:r>
          </a:p>
        </p:txBody>
      </p:sp>
    </p:spTree>
    <p:extLst>
      <p:ext uri="{BB962C8B-B14F-4D97-AF65-F5344CB8AC3E}">
        <p14:creationId xmlns:p14="http://schemas.microsoft.com/office/powerpoint/2010/main" val="1001600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9D59C-4F11-42BF-82F3-5EAD112B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87A1E-0F5C-4335-8A8E-DED037FC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68675-A711-4D3B-8F54-E0640EE5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204CC-D919-408B-B4CE-050ACE1A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0A5E0-F179-4CFE-8734-327EA20E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41A6E-DE8B-4A43-87E0-7AB3F04D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002E2-DEE1-4315-B294-9C955EA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DIAGNOSTIC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387DD-C81D-4F4E-A46F-C2703DA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Starting-point talk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70136-F4F1-43E3-B978-CD4EF8C0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Speak without a full script. Six keywords are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B7670-2953-4FB1-9245-2FA33226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37380-FA66-4CC4-8698-1F2CFFE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6690F-9C7C-4E4E-B373-A3DAC30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What time do you get up?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A5F60-CB24-4562-8231-F4262636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241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3A02E-6ABF-401D-B405-9477525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432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0AE07-5989-441E-9FAB-1F5D6ACE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2417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What happens before school?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1CEB0-2338-46D9-BDAF-024E3D7D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0A92F-186E-48B1-B73C-B09A1C0D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7CB4C-7299-4B3C-914F-0A40F6B9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997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How do you travel?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BB979-4852-45F3-83E7-4E6CD8D0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957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862EF-0A97-4164-8B8E-BD6AC607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148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F15F5-0C1C-4A56-BE58-0DF46EC2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9577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What do you do in the evening?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B3ED7-A7CB-4692-8C29-9E3A7D0D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81575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42BCB-E235-4EE4-A12B-44C1D320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95D8D-8AC2-4CF9-98E7-ECD6D15E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81575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What do you enjoy most —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9AB21F-14D9-44E9-B690-A1A1D445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38375"/>
            <a:ext cx="161925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0">
            <a:solidFill>
              <a:srgbClr val="F4EE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FE4B7-70D1-41E1-BA73-36EAC910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435"/>
                </a:solidFill>
              </a:defRPr>
            </a:pPr>
            <a:r>
              <a:rPr sz="1350" b="1">
                <a:solidFill>
                  <a:srgbClr val="B85435"/>
                </a:solidFill>
              </a:rPr>
              <a:t>KEYWORDS</a:t>
            </a:r>
          </a:p>
          <a:p xmlns:a="http://schemas.openxmlformats.org/drawingml/2006/main">
            <a:pPr algn="ctr">
              <a:defRPr sz="1350" b="1">
                <a:solidFill>
                  <a:srgbClr val="B85435"/>
                </a:solidFill>
              </a:defRPr>
            </a:pPr>
            <a:r>
              <a:rPr sz="1350" b="1">
                <a:solidFill>
                  <a:srgbClr val="B85435"/>
                </a:solidFill>
              </a:rPr>
              <a:t>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62A3D-5560-4825-A5C6-2B7585CF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0"/>
            <a:ext cx="123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morning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school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evening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favourite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D0E52-FEB3-4AC6-BA38-37486293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Diagnostic · no correction yet</a:t>
            </a:r>
          </a:p>
        </p:txBody>
      </p:sp>
    </p:spTree>
    <p:extLst>
      <p:ext uri="{BB962C8B-B14F-4D97-AF65-F5344CB8AC3E}">
        <p14:creationId xmlns:p14="http://schemas.microsoft.com/office/powerpoint/2010/main" val="1237296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A15ADC-563D-44A4-A228-D313F178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F007B-3674-48CB-B0F8-A5AD1D3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3546C-1CD6-442D-8E9E-B5BB342C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6B473-BC89-4933-88E3-75F891C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0E973-E792-4FBA-8E62-56A93A0B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4E4EE-CDE7-4624-8D95-2B8E4418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D4D97-9CB4-402E-95F3-B027B211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VOCABULARY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02CA7-AC19-4086-897E-31D87164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Build your routine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CF903-5F00-47AB-AF3B-8EBA21B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Sort phrases by part of the day — then make them yours.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03C17-59BA-45A2-AA38-FA6DBC13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3333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CC5B5-6B04-4AFF-AE4B-AAB8FB9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800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91E0F-2846-434B-A048-0919F06D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4C62D-6E4F-44D5-A017-4E4373C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get up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have breakfast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catch the bus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2A883-0E66-4A5D-B9E1-D7E5E642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B746F"/>
                </a:solidFill>
              </a:defRPr>
            </a:pPr>
            <a:r>
              <a:rPr sz="1275" b="0">
                <a:solidFill>
                  <a:srgbClr val="2B746F"/>
                </a:solidFill>
              </a:rPr>
              <a:t>+ your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2CDBA-CBF9-4FAA-8A11-CA84445A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333625"/>
            <a:ext cx="3333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D477A-3622-4B7F-8363-88201B26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71750"/>
            <a:ext cx="2800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F651B-F26A-482D-8B29-7D8D1802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90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SCHOOL / 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C756D-9D8F-4F35-9A3C-2015B503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38500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study English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work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exercise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5E8AC-5607-47B3-9C36-BE6C2DEE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48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B746F"/>
                </a:solidFill>
              </a:defRPr>
            </a:pPr>
            <a:r>
              <a:rPr sz="1275" b="0">
                <a:solidFill>
                  <a:srgbClr val="2B746F"/>
                </a:solidFill>
              </a:rPr>
              <a:t>+ your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FBB06-62B5-4891-A879-247FEC36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3337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6F2F0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5021B-1FAE-469D-B2CC-7688AD6E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800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632A1-33A3-479B-88E1-B0E58C4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1F880-20C8-4CA4-A408-7C67992F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relax with friends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watch TV · go online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go to bed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3E8AB-DC1A-43AB-99ED-BF59EFE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B746F"/>
                </a:solidFill>
              </a:defRPr>
            </a:pPr>
            <a:r>
              <a:rPr sz="1275" b="0">
                <a:solidFill>
                  <a:srgbClr val="2B746F"/>
                </a:solidFill>
              </a:rPr>
              <a:t>+ your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918A1-3441-43DC-8EDD-A547F73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Say the whole phrase — not one word</a:t>
            </a:r>
          </a:p>
        </p:txBody>
      </p:sp>
    </p:spTree>
    <p:extLst>
      <p:ext uri="{BB962C8B-B14F-4D97-AF65-F5344CB8AC3E}">
        <p14:creationId xmlns:p14="http://schemas.microsoft.com/office/powerpoint/2010/main" val="250069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AC3287-49BB-4498-8F0B-D499B7E2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7253B-6D53-4F41-9C5E-7CFCEF3C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C5F12-3FAE-4DBB-ACC5-8D54FAEC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453E3-045E-41DE-AF0C-DFB94C3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0539A-EE68-4C5B-B2A6-80B1F75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8ACD5-6808-4581-B462-4084A67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149A9-D1B0-45D1-898F-229B3648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38F8F-734D-4111-8AB4-7CDF05B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Collocation lightning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FBE4A-C0D6-47B9-82E0-CC3BE868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Complete each phrase aloud. Three seconds — then move 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80659-6FB1-4360-9093-9BE47101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B2117-6A50-4E1E-8E34-FDC9618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E6075-DCF3-4662-B313-EB695878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435"/>
                </a:solidFill>
              </a:defRPr>
            </a:pPr>
            <a:r>
              <a:rPr sz="1350" b="1">
                <a:solidFill>
                  <a:srgbClr val="B85435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3E756-3697-421F-B003-8BC6B9A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get 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8EBE0-37C4-41F8-887C-65591624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4ACB2-D84C-4B9D-A408-F530C23B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383EE-CCF1-4005-ABBF-5DECE342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43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3137C-5287-467B-89B5-365B50A0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765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have 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5C89D-C278-4BB0-BBEA-B7475D3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48644-D7CA-45FE-8591-32337A3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CA2B4-1DC9-46B2-84A5-68D3B523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14AA3-BAF0-467C-AB84-F2DFB4DE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catch the 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D8F36-B080-4518-8CFB-4FF5E05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61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698704-A067-4781-9305-FB199811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61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F8D8D-3B27-42EF-93BE-2BDEE56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435"/>
                </a:solidFill>
              </a:defRPr>
            </a:pPr>
            <a:r>
              <a:rPr sz="1350" b="1">
                <a:solidFill>
                  <a:srgbClr val="B85435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15856-BEDC-412E-AF7D-8EF815B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528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study ___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9AA18-6367-4129-8124-A31BEB47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5E402-4B07-449A-AE76-995C098C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9C4B6C-36F4-4785-B464-16B5852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AC0452-0CAF-477D-8500-73A562DB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watch ___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2657E-9A6C-4A35-81E5-9A3AA4C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9F362-A6E2-4D6B-8B62-73C60ACA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A9F97-1FD5-454D-BDA5-751A6A4C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E91B48-FD98-4672-8A80-055665A7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go ___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2B950C-64BC-4363-9276-E28E8C92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74BD66-D0A3-44FA-9642-5DF7DAD0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C7E437-9819-475B-8426-9A1A6D9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435"/>
                </a:solidFill>
              </a:defRPr>
            </a:pPr>
            <a:r>
              <a:rPr sz="1350" b="1">
                <a:solidFill>
                  <a:srgbClr val="B85435"/>
                </a:solidFill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875031-000F-4EF3-A495-FD014105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relax with ___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CA3DEF-34D1-406A-92BD-DEE023D7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1AC227-E143-4CDE-9DD5-7BC4A708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762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97023E-38F1-486A-A2F7-0C0A6323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D8E366-F7B4-402C-9059-03E4B3B9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05425"/>
            <a:ext cx="495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go to ___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9805F5-A50A-40C6-B2B9-EB1CEE83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No dictionary · no translator · best attempt</a:t>
            </a:r>
          </a:p>
        </p:txBody>
      </p:sp>
    </p:spTree>
    <p:extLst>
      <p:ext uri="{BB962C8B-B14F-4D97-AF65-F5344CB8AC3E}">
        <p14:creationId xmlns:p14="http://schemas.microsoft.com/office/powerpoint/2010/main" val="1300206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4D495-A2ED-4489-8D58-90FA3EC4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D9DBF-F942-44DD-A47D-8ADA2982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055AD-89D9-41C2-B9A4-1577FEA0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013AB-6550-47BA-95E3-99288A37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5C8D-CC1E-4B77-9FB7-3B9819B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C93AC-F919-4080-B347-026F0275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B1C38-11AC-46D2-BE7A-9849DE2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READING 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EEB06-9A06-4E06-9F39-A49544E7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Read like an evidence detective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8682B-D1A1-48A0-A4B7-9641D7CD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Skim first. Scan second. Prove every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FED81-F47A-43D5-B9C5-739F945B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2857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3EF30-911E-457E-BB2D-AEF24A97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1693E-93CD-4542-A111-166BE79C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39783-B4BF-4B95-A349-E60EE67D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62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SKIM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5C6B1-15C1-431E-A568-361C154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2425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</a:defRPr>
            </a:pPr>
            <a:r>
              <a:rPr sz="1800" b="0">
                <a:solidFill>
                  <a:srgbClr val="202B33"/>
                </a:solidFill>
              </a:rPr>
              <a:t>Who? Where?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0D4CE-AA3F-4A4D-8EB6-C0931B81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908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5435"/>
                </a:solidFill>
              </a:defRPr>
            </a:pPr>
            <a:r>
              <a:rPr sz="2550" b="1">
                <a:solidFill>
                  <a:srgbClr val="B8543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1E763-4E22-43F9-B1D0-29113318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2857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ED83F-59F4-4362-96DD-1DF8C46B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14BB6-AA10-4F0D-8987-101E981E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9027D-A49C-4450-96F2-E86F0C64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73F55-9061-42E9-8B60-CF753586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52425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</a:defRPr>
            </a:pPr>
            <a:r>
              <a:rPr sz="1800" b="0">
                <a:solidFill>
                  <a:srgbClr val="202B33"/>
                </a:solidFill>
              </a:rPr>
              <a:t>Time? Action?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C60AA-96D6-4FE9-8D34-E459E2E7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5435"/>
                </a:solidFill>
              </a:defRPr>
            </a:pPr>
            <a:r>
              <a:rPr sz="2550" b="1">
                <a:solidFill>
                  <a:srgbClr val="B8543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62453-DD6D-4E17-8492-08F0149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285750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010A2-7379-4DBF-BF21-8432CC92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2D18B-0717-4C15-B336-9676585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3367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56C0E-F108-401A-A4A5-28FE0DC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59AA2-3C51-4FC8-AD07-9DDF35F2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24250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02B33"/>
                </a:solidFill>
              </a:defRPr>
            </a:pPr>
            <a:r>
              <a:rPr sz="1800" b="0">
                <a:solidFill>
                  <a:srgbClr val="202B33"/>
                </a:solidFill>
              </a:rPr>
              <a:t>Exact words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91638-CBAD-44DC-BD27-3294C3E9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53000"/>
            <a:ext cx="904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CAD51-3BEA-4FB2-BE41-EED87EAB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577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An answer without proof is only a guess.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8DA0E-6C2E-45D6-A142-FFE53F56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Speak · Think · Prove</a:t>
            </a:r>
          </a:p>
        </p:txBody>
      </p:sp>
    </p:spTree>
    <p:extLst>
      <p:ext uri="{BB962C8B-B14F-4D97-AF65-F5344CB8AC3E}">
        <p14:creationId xmlns:p14="http://schemas.microsoft.com/office/powerpoint/2010/main" val="1716941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97DED-5DB7-4CA0-9188-D4ED515C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FE31E-738E-464A-9FF3-FEC45790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A505C-F080-4DAE-8C41-45CB662A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190B8-6675-4018-BB93-B65D3BB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2D1A6-E5BE-446E-A6B5-4CA4334B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E93CA-E3AF-4CBC-B4DA-75073A1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43382-4005-421B-BECE-E11E6A24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READING INTERACTION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CF615-803B-411F-B40C-6A00C5E7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Who does what?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B34AF-C6C3-459B-BFD9-7F92C3E8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Choose a person — then point to the words that prove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609F0-E3CB-4740-8E4A-CDB40B7A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667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26DA8-2EC9-43C8-89AA-B46B587F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061F2-D51E-43FF-84FC-CBA813A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667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3A952-9DA4-4F80-B736-F7D6E5D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MICHAEL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29C9B-C26B-4D3B-90C5-452315B4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DF049-C708-47D1-8426-90764C1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NINA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44EB5-549F-43C6-9223-12096C60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solidFill>
              <a:srgbClr val="DCEA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A6881-CA58-4915-AA22-E8C38B2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81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C43BE-FFFB-4800-AF01-C6A931FE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241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</a:defRPr>
            </a:pPr>
            <a:r>
              <a:rPr sz="1650" b="0">
                <a:solidFill>
                  <a:srgbClr val="202B33"/>
                </a:solidFill>
              </a:rPr>
              <a:t>works with family after college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16F12-7790-41CD-9D1E-6A721F1E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241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46F"/>
                </a:solidFill>
              </a:defRPr>
            </a:pPr>
            <a:r>
              <a:rPr sz="1200" b="1">
                <a:solidFill>
                  <a:srgbClr val="2B746F"/>
                </a:solidFill>
              </a:rPr>
              <a:t>PROOF: 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9F5E3-5487-4AE5-B5D6-59227E3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solidFill>
              <a:srgbClr val="DCEA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C9EAD-E4CC-4FD0-800E-07D346DF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0FFC6-A855-4D31-89D5-13F29492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385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</a:defRPr>
            </a:pPr>
            <a:r>
              <a:rPr sz="1650" b="0">
                <a:solidFill>
                  <a:srgbClr val="202B33"/>
                </a:solidFill>
              </a:rPr>
              <a:t>goes out in a car in the evening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FF082-D2CB-4696-908E-296D1FB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38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46F"/>
                </a:solidFill>
              </a:defRPr>
            </a:pPr>
            <a:r>
              <a:rPr sz="1200" b="1">
                <a:solidFill>
                  <a:srgbClr val="2B746F"/>
                </a:solidFill>
              </a:rPr>
              <a:t>PROOF: __________________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6934A-0F9A-4F0F-90BD-C26F749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solidFill>
              <a:srgbClr val="DCEA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2BD25-6BB9-4058-A8E7-1483B625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A6BC51-AD02-4139-8C7D-57018703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</a:defRPr>
            </a:pPr>
            <a:r>
              <a:rPr sz="1650" b="0">
                <a:solidFill>
                  <a:srgbClr val="202B33"/>
                </a:solidFill>
              </a:rPr>
              <a:t>gets a lift to college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FE45C-F699-4473-BAB4-738BD25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52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46F"/>
                </a:solidFill>
              </a:defRPr>
            </a:pPr>
            <a:r>
              <a:rPr sz="1200" b="1">
                <a:solidFill>
                  <a:srgbClr val="2B746F"/>
                </a:solidFill>
              </a:rPr>
              <a:t>PROOF: __________________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32AF24-67B2-4014-ABC1-C1927491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solidFill>
              <a:srgbClr val="DCEA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0BFE7-D61F-4A91-BCAB-C595B836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C63D60-D048-4400-8254-FAC68DF6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6722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</a:defRPr>
            </a:pPr>
            <a:r>
              <a:rPr sz="1650" b="0">
                <a:solidFill>
                  <a:srgbClr val="202B33"/>
                </a:solidFill>
              </a:rPr>
              <a:t>prepares the evening meal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7C4949-2AB8-4C4A-8E26-B0285003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672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46F"/>
                </a:solidFill>
              </a:defRPr>
            </a:pPr>
            <a:r>
              <a:rPr sz="1200" b="1">
                <a:solidFill>
                  <a:srgbClr val="2B746F"/>
                </a:solidFill>
              </a:rPr>
              <a:t>PROOF: __________________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7A451C-75F9-4E29-8D46-E46B026B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29200"/>
            <a:ext cx="3048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0">
            <a:solidFill>
              <a:srgbClr val="DCEA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0F6FD-801F-448F-A739-93F31013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8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C70F2-6F17-4DEB-B5BF-06CAE76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815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</a:defRPr>
            </a:pPr>
            <a:r>
              <a:rPr sz="1650" b="0">
                <a:solidFill>
                  <a:srgbClr val="202B33"/>
                </a:solidFill>
              </a:rPr>
              <a:t>lives far from the sea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D43AE1-2A16-4993-BAC0-DDE2F429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815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46F"/>
                </a:solidFill>
              </a:defRPr>
            </a:pPr>
            <a:r>
              <a:rPr sz="1200" b="1">
                <a:solidFill>
                  <a:srgbClr val="2B746F"/>
                </a:solidFill>
              </a:rPr>
              <a:t>PROOF: __________________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4E2704-4509-4D1B-9559-D44A1A14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Use Unit 1 pages 3–4</a:t>
            </a:r>
          </a:p>
        </p:txBody>
      </p:sp>
    </p:spTree>
    <p:extLst>
      <p:ext uri="{BB962C8B-B14F-4D97-AF65-F5344CB8AC3E}">
        <p14:creationId xmlns:p14="http://schemas.microsoft.com/office/powerpoint/2010/main" val="1986256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0B3C9-899E-4903-90F3-DF77BDE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4BBC3-A912-4010-A5B0-7F17ECA9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8FAAE-50C6-46D5-9E4E-5E1E783B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B5848-A87A-45B8-A295-E64CB90F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2F245-8556-4944-ADB5-AF471D8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5A61D-DECF-4592-A471-5A70D83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2AA63-8712-44AE-BDB4-20902A5F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INVERSE THINKING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A2C4D-DF6D-41CE-9D8D-2F679AE9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What feels wrong?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8C305-66CE-47D8-8039-76F32765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Repair the model before learning the rule.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A906D-55ED-41BD-8759-7BC165A5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5D96B-BAF6-4150-A854-FBA5D5BF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C7F12-8631-436A-B2E8-3E10B5BA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MODEL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56274-4A82-4247-8324-0DA11D84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431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She get up at 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290D5-C542-4DB9-BE30-AB222D5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813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746F"/>
                </a:solidFill>
              </a:defRPr>
            </a:pPr>
            <a:r>
              <a:rPr sz="1275" b="0">
                <a:solidFill>
                  <a:srgbClr val="2B746F"/>
                </a:solidFill>
              </a:rPr>
              <a:t>What clue forces a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3D828-16F7-41BB-ABCB-9BA34A5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C2B2B-F367-468A-937F-D618D609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516C0-1A11-4DE1-8790-4B2C62E4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MODEL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1312F-15BF-46A2-99A3-25919299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431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He watch TV every evening.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62583-3328-4762-9F5C-1C0E0460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813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746F"/>
                </a:solidFill>
              </a:defRPr>
            </a:pPr>
            <a:r>
              <a:rPr sz="1275" b="0">
                <a:solidFill>
                  <a:srgbClr val="2B746F"/>
                </a:solidFill>
              </a:rPr>
              <a:t>What clue forces a change?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0C4D3-D157-44A6-9108-CA6DDEF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5AADF-74F1-431C-9359-9B002644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60AAE-60BF-4A9D-804B-E1CFE992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MODEL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DABC3-CFB8-45CB-BB37-42210EF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719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My sister always is tired.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5C987-42AB-4995-9F5F-D3F67A14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1007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746F"/>
                </a:solidFill>
              </a:defRPr>
            </a:pPr>
            <a:r>
              <a:rPr sz="1275" b="0">
                <a:solidFill>
                  <a:srgbClr val="2B746F"/>
                </a:solidFill>
              </a:rPr>
              <a:t>What clue forces a change?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70CA5-133E-4C9F-9B06-A0F5A48E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2CB17-D715-4EAE-88D7-4C4D0E86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33825"/>
            <a:ext cx="1143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9F96D-8A15-4270-8235-D5475416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MODEL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AC1EB-131E-4353-B7B9-D3B07449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19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I catch to the bus.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21A04-8EB5-445F-AC49-36973EFF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41007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746F"/>
                </a:solidFill>
              </a:defRPr>
            </a:pPr>
            <a:r>
              <a:rPr sz="1275" b="0">
                <a:solidFill>
                  <a:srgbClr val="2B746F"/>
                </a:solidFill>
              </a:rPr>
              <a:t>What clue forces a change?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277FF1-8F35-4104-82E3-79F8A4A3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Find → explain → repair → test</a:t>
            </a:r>
          </a:p>
        </p:txBody>
      </p:sp>
    </p:spTree>
    <p:extLst>
      <p:ext uri="{BB962C8B-B14F-4D97-AF65-F5344CB8AC3E}">
        <p14:creationId xmlns:p14="http://schemas.microsoft.com/office/powerpoint/2010/main" val="1617119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F56C1-1727-42C0-82A1-3FF5349B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A4782-5748-4DAC-8BF5-DC8C1F04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F9874-8896-49F1-A6D2-15138EE6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09B33-CBEA-4BB5-BD55-C57D6ED2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37A05-16A0-49C7-860A-6BBB7862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A659E-9843-4672-934C-A5C40945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2DCFE-0291-4671-9408-E5EAE99D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GRAMMAR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5D067-552D-4A6E-B5D2-453F713C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Build the present-simple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B2632-A4EC-4F1C-AC81-D3917E19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Start with the subject. Then choose the ending.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9C130-B682-422A-96D2-DC876BC7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33337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B5E76-6A5D-48B0-A4F0-E911DC15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746F"/>
                </a:solidFill>
              </a:defRPr>
            </a:pPr>
            <a:r>
              <a:rPr sz="1500" b="1">
                <a:solidFill>
                  <a:srgbClr val="2B746F"/>
                </a:solidFill>
              </a:rPr>
              <a:t>I · YOU · WE · THEY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2A81C-AA06-424B-B3A3-A14E070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3850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base verb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get · watch · try · 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520FA-69A4-4CE2-B898-65686BCB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33337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BB164-DBD8-4009-9653-E9B14AD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5435"/>
                </a:solidFill>
              </a:defRPr>
            </a:pPr>
            <a:r>
              <a:rPr sz="1500" b="1">
                <a:solidFill>
                  <a:srgbClr val="B85435"/>
                </a:solidFill>
              </a:rPr>
              <a:t>HE · SHE ·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8393D-C1F6-4457-BE74-214C2714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usually +s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gets · relaxes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DC280-333B-4D6A-9B24-DE706E5E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33625"/>
            <a:ext cx="33337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E6F2F0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A9CFA-5128-4512-A3DD-5E850CFB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746F"/>
                </a:solidFill>
              </a:defRPr>
            </a:pPr>
            <a:r>
              <a:rPr sz="1500" b="1">
                <a:solidFill>
                  <a:srgbClr val="2B746F"/>
                </a:solidFill>
              </a:rPr>
              <a:t>SPECIAL ENDINGS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D6E70-05DA-4598-9C7C-ABCE1330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38500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-ch/-sh/-ss/-o → +es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consonant + y → -ies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1547E-116C-4B88-BACA-15B8212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EA3A6-83A0-4384-80E8-FC153024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53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Subject first → ending second → say the whole sentence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EBF63-83C8-408A-8377-DBA5D1E5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Speak · Think · Prove</a:t>
            </a:r>
          </a:p>
        </p:txBody>
      </p:sp>
    </p:spTree>
    <p:extLst>
      <p:ext uri="{BB962C8B-B14F-4D97-AF65-F5344CB8AC3E}">
        <p14:creationId xmlns:p14="http://schemas.microsoft.com/office/powerpoint/2010/main" val="1805764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12B01-4ED8-4405-98EE-06AA5ABF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C01F-3104-41CA-B7EF-3AB12AC7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74D33-1EE8-4966-B356-ABD3226F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577F8-BF8F-47BF-A5FC-06B38D0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CF2CB-DF7A-4C71-81BB-8F5259FF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AE2B8-5397-48C0-B61B-0A169CF3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51319-37DA-4245-BE2C-B7A8B6FA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FREQUENCY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F1AA8-4527-4A27-A9C0-78E1DBDF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Where does usually go?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A582C-3F1D-4BFA-A203-A13E12D1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Compare most verbs with the verb be.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61E0C-7C19-453B-AA24-87CBAD9B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E20DC-10E7-468A-A4BE-ADE44D1A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34D0C-F7A1-4448-92E3-854AD7F8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46F"/>
                </a:solidFill>
              </a:defRPr>
            </a:pPr>
            <a:r>
              <a:rPr sz="1350" b="1">
                <a:solidFill>
                  <a:srgbClr val="2B746F"/>
                </a:solidFill>
              </a:rPr>
              <a:t>MOST VERBS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6D519-C66D-4872-A113-54F816B9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47975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subject + adverb + verb</a:t>
            </a:r>
          </a:p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I usually study after dinner.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8BB90-1C6E-4A76-B349-C12C6671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CBD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D189F-B1CE-48CF-96CD-B31D6C18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7620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E909E-4B40-4FB5-A6B9-12F9F5C4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14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5435"/>
                </a:solidFill>
              </a:defRPr>
            </a:pPr>
            <a:r>
              <a:rPr sz="1350" b="1">
                <a:solidFill>
                  <a:srgbClr val="B85435"/>
                </a:solidFill>
              </a:rPr>
              <a:t>VERB 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CCAE8-5B87-429B-ADE6-E1DF3DA8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47975"/>
            <a:ext cx="438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subject + be + adverb</a:t>
            </a:r>
          </a:p>
          <a:p xmlns:a="http://schemas.openxmlformats.org/drawingml/2006/main">
            <a:pPr algn="l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He is usually tired after school.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88326-6363-4AB5-A6B0-CF5A39EF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48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B746F"/>
                </a:solidFill>
              </a:defRPr>
            </a:pPr>
            <a:r>
              <a:rPr sz="2250" b="1">
                <a:solidFill>
                  <a:srgbClr val="2B746F"/>
                </a:solidFill>
              </a:rPr>
              <a:t>usually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D04B2-7F5B-49BA-B9F6-A6D00BCB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48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2B33"/>
                </a:solidFill>
              </a:defRPr>
            </a:pPr>
            <a:r>
              <a:rPr sz="1500" b="0">
                <a:solidFill>
                  <a:srgbClr val="202B33"/>
                </a:solidFill>
              </a:rPr>
              <a:t>moves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27817-0AD2-4BC6-BACF-63F8D87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85435"/>
                </a:solidFill>
              </a:defRPr>
            </a:pPr>
            <a:r>
              <a:rPr sz="2250" b="1">
                <a:solidFill>
                  <a:srgbClr val="B85435"/>
                </a:solidFill>
              </a:rPr>
              <a:t>usually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20DE3-98A2-4BD4-A412-B045F52C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6E8FD-6373-4E6A-BFF4-EFDE3674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625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Test it: My brother ______ is / is ______ late for school.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9CF53-3ECC-41BA-B462-0AF513BB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Speak · Think · Prove</a:t>
            </a:r>
          </a:p>
        </p:txBody>
      </p:sp>
    </p:spTree>
    <p:extLst>
      <p:ext uri="{BB962C8B-B14F-4D97-AF65-F5344CB8AC3E}">
        <p14:creationId xmlns:p14="http://schemas.microsoft.com/office/powerpoint/2010/main" val="1541095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8D81F-139F-47F1-9173-582194AA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E673D-D40B-4EB5-B516-118695CA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ADEDC-EACC-4A8D-9FDB-C8A316F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A028E-53CD-4979-8E5E-53C52517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446DC-A607-4CC0-965B-2E4D05FF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495D8-6ED6-4640-80AA-10C282C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1E395-D29C-4BEE-A4CF-22E2FF4D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INDEPENDENT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BE4F8-414F-48D4-BA1B-D30D1626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Choose — then defend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5C5F4-9490-4C04-9E2F-5E980123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State the form, the subject clue and the ending clue.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B0395-AB76-42EA-8B5C-9884E827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516D6-3E6E-4062-A482-2B53ACE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Ping catch / catches the bus.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209CE-54C0-4E8F-A797-8BBD10BE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1476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0">
            <a:solidFill>
              <a:srgbClr val="F4EE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AC306-234A-47A2-A2B8-6B79A742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5435"/>
                </a:solidFill>
              </a:defRPr>
            </a:pPr>
            <a:r>
              <a:rPr sz="975" b="1">
                <a:solidFill>
                  <a:srgbClr val="B85435"/>
                </a:solidFill>
              </a:rPr>
              <a:t>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5352C-DD4D-4031-9A1A-E1F60010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6F2F0"/>
          </a:solidFill>
          <a:ln xmlns:a="http://schemas.openxmlformats.org/drawingml/2006/main" w="0">
            <a:solidFill>
              <a:srgbClr val="E6F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DEB64-CE68-4C21-A368-278067A4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746F"/>
                </a:solidFill>
              </a:defRPr>
            </a:pPr>
            <a:r>
              <a:rPr sz="975" b="1">
                <a:solidFill>
                  <a:srgbClr val="2B746F"/>
                </a:solidFill>
              </a:rPr>
              <a:t>CLUE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824E6-5129-4D0A-A660-F7ED6297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72199-2594-4E44-8197-1D12F248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They study / studies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5F888-97CA-4682-AB68-69D1296E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1476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0">
            <a:solidFill>
              <a:srgbClr val="F4EE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D0EC0-EE95-45FF-98AF-D51AB7A4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5435"/>
                </a:solidFill>
              </a:defRPr>
            </a:pPr>
            <a:r>
              <a:rPr sz="975" b="1">
                <a:solidFill>
                  <a:srgbClr val="B85435"/>
                </a:solidFill>
              </a:rPr>
              <a:t>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3C753-C011-4078-B11F-A8DD8CD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6F2F0"/>
          </a:solidFill>
          <a:ln xmlns:a="http://schemas.openxmlformats.org/drawingml/2006/main" w="0">
            <a:solidFill>
              <a:srgbClr val="E6F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BEE44-48FA-4C81-B42D-E40A3392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81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746F"/>
                </a:solidFill>
              </a:defRPr>
            </a:pPr>
            <a:r>
              <a:rPr sz="975" b="1">
                <a:solidFill>
                  <a:srgbClr val="2B746F"/>
                </a:solidFill>
              </a:rPr>
              <a:t>CLUE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962E9-762F-4620-97D3-4D6629D2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3F404-9B7E-41E2-8A1B-19512E76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Nina try / tries hard.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46674-C765-496E-AC45-015950D5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1476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0">
            <a:solidFill>
              <a:srgbClr val="F4EE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2BD5DB-EE0D-4383-96E3-BFEFFF02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5435"/>
                </a:solidFill>
              </a:defRPr>
            </a:pPr>
            <a:r>
              <a:rPr sz="975" b="1">
                <a:solidFill>
                  <a:srgbClr val="B85435"/>
                </a:solidFill>
              </a:rPr>
              <a:t>CHOICE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9E007-7218-4BA7-9929-7C1F88BD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624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6F2F0"/>
          </a:solidFill>
          <a:ln xmlns:a="http://schemas.openxmlformats.org/drawingml/2006/main" w="0">
            <a:solidFill>
              <a:srgbClr val="E6F2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3F508-C5CA-45C0-8743-CE39B854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19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746F"/>
                </a:solidFill>
              </a:defRPr>
            </a:pPr>
            <a:r>
              <a:rPr sz="975" b="1">
                <a:solidFill>
                  <a:srgbClr val="2B746F"/>
                </a:solidFill>
              </a:rPr>
              <a:t>CLUE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3FA0D-A2AE-4A1F-AC7B-BDD7D8FE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00600"/>
            <a:ext cx="7239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8500E2-0BB9-46D6-8CCD-9FB28EC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My dad wash / washes up.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D27F21-25EE-4BC7-B12E-A87CCB4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14763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0">
            <a:solidFill>
              <a:srgbClr val="F4EE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568D1-EC45-4BDA-B36F-258CA1CC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5435"/>
                </a:solidFill>
              </a:defRPr>
            </a:pPr>
            <a:r>
              <a:rPr sz="975" b="1">
                <a:solidFill>
                  <a:srgbClr val="B85435"/>
                </a:solidFill>
              </a:rPr>
              <a:t>CHOICE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EB9B3-7B40-4869-BD2C-65218542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00600"/>
            <a:ext cx="1714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6F2F0"/>
          </a:solidFill>
          <a:ln xmlns:a="http://schemas.openxmlformats.org/drawingml/2006/main" w="0">
            <a:solidFill>
              <a:srgbClr val="E6F2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69F9F-EFE6-4EA2-B6EF-55558193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746F"/>
                </a:solidFill>
              </a:defRPr>
            </a:pPr>
            <a:r>
              <a:rPr sz="975" b="1">
                <a:solidFill>
                  <a:srgbClr val="2B746F"/>
                </a:solidFill>
              </a:rPr>
              <a:t>CLUE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039914-3E91-4D8D-9F04-4AECDD11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No guessing: name the clue</a:t>
            </a:r>
          </a:p>
        </p:txBody>
      </p:sp>
    </p:spTree>
    <p:extLst>
      <p:ext uri="{BB962C8B-B14F-4D97-AF65-F5344CB8AC3E}">
        <p14:creationId xmlns:p14="http://schemas.microsoft.com/office/powerpoint/2010/main" val="58630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DCB81-CB8F-44C2-A682-416E469E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E9508-10F1-4F52-B308-85F62DA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26E25-7CF9-4909-863D-0DA1FF06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392C0-D094-442A-AAD5-0B811D73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CFFFC-5DD0-4CE8-B02E-B614C65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41358-F22A-4AD9-8C0F-5A2475C0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716A7-07FE-45D5-9611-0AD6DD9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SPEAKING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75F40-2B64-40C1-8FDB-5E84638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Plan with keywords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DF8A7-69B2-4552-8D2A-B378275E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Build a clear 60–90 second talk — without writing a script.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E70CB-1DD4-4D7C-9983-E6EBF4DD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2A045-0B36-4827-8962-FE973E1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152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17419-A5CA-4B78-A910-D0E71F5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29A18-31FE-498A-8037-17087AC6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6 routines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38210-6DB6-4A67-A481-8C4434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05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53831-04CC-4147-9C5A-73F92CCE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8125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99442-3251-4456-8E1C-0F15B00A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152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C3B08-36FA-415E-A432-19F9D302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WHO / WHERE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405B0-1066-47AB-B758-C8FB8B45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people + places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0094A-69A5-403D-AADF-DD11C82A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905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CA80F-D4E4-4EAA-A4CF-1466FC3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555D5-F916-4E6C-9BD6-53444B08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2152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AB6D3-DD95-4DC6-804E-DFBC85CC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HOW OFTEN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717CF-B3B2-4E6D-B32B-E7B5E17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2 adverbs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2F465-0399-4A3C-8C9E-6AF9189C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05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____________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B704B-6937-40C7-ABFC-920C48B2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571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D41A7-AD9C-4FCB-9AF8-F3BF3BE3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152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DDDBD7-10A5-4348-A4C9-9C67F6CD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ENJOY + WHY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AD111C-3A04-4948-923F-4173438D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one reason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571E25-BE4D-4E14-87A4-3B8837B4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05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B33"/>
                </a:solidFill>
              </a:defRPr>
            </a:pPr>
            <a:r>
              <a:rPr sz="1350" b="0">
                <a:solidFill>
                  <a:srgbClr val="202B33"/>
                </a:solidFill>
              </a:rPr>
              <a:t>____________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1680F-E810-4D45-8280-2D063730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334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85FF9-0F24-414D-9B40-35940419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43475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First…  ·  After that…  ·  I usually…  ·  What I enjoy most is…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D420B-A484-4987-B9FD-473CCAB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Speak · Think · Prove</a:t>
            </a:r>
          </a:p>
        </p:txBody>
      </p:sp>
    </p:spTree>
    <p:extLst>
      <p:ext uri="{BB962C8B-B14F-4D97-AF65-F5344CB8AC3E}">
        <p14:creationId xmlns:p14="http://schemas.microsoft.com/office/powerpoint/2010/main" val="10631195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212BE-1AE7-4249-8858-C31BE96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AE0A5-8370-4D11-AAB0-EC537BD6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BA451-58D4-41BB-9CE1-03AE634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10E5F-AD4E-4493-A73C-3B96285B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662FA-9900-404B-88AC-342ED70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DBBC8-269D-4294-8365-226076E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EE719-D54C-4F8C-966B-CE8812F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ECE0D-F786-4D9B-B05B-AEAFA9D9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Speak → feedback → redo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21E3E-83B9-42D2-B0BE-11AEEE33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Improve one accuracy priority and one communication priority.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12080-65C2-4215-BEDA-52835580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857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37B87-B76E-47B1-88E3-25B1B3A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62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62AAA-47BA-4BD5-907E-E2F50D2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EBBA6-5578-4055-9078-C8CEF78F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SPEAK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C09D0-7176-49D2-B1A9-63CB8A6A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746F"/>
                </a:solidFill>
              </a:defRPr>
            </a:pPr>
            <a:r>
              <a:rPr sz="1350" b="0">
                <a:solidFill>
                  <a:srgbClr val="2B746F"/>
                </a:solidFill>
              </a:rPr>
              <a:t>60–90 sec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FA74C-BE4C-4C0C-A3D6-2805E056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5435"/>
                </a:solidFill>
              </a:defRPr>
            </a:pPr>
            <a:r>
              <a:rPr sz="2550" b="1">
                <a:solidFill>
                  <a:srgbClr val="B8543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6BC5D-53FB-474E-8EC6-D39B1F7B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2857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1615E-67B8-4FD8-AD61-36BA25DC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62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0A363-4E6A-42F3-A77B-847F69E3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D7D1A-18BC-40F6-9174-848A2E26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4C00B-17AC-4CBF-9878-C6D1E927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746F"/>
                </a:solidFill>
              </a:defRPr>
            </a:pPr>
            <a:r>
              <a:rPr sz="1350" b="0">
                <a:solidFill>
                  <a:srgbClr val="2B746F"/>
                </a:solidFill>
              </a:rPr>
              <a:t>2 priorities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8FE82-A32A-445B-A118-29413011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5435"/>
                </a:solidFill>
              </a:defRPr>
            </a:pPr>
            <a:r>
              <a:rPr sz="2550" b="1">
                <a:solidFill>
                  <a:srgbClr val="B85435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08B3D-D49F-49AF-A470-A7854089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9525">
            <a:solidFill>
              <a:srgbClr val="B8C7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D4908-5EE7-432C-B70C-AF6A8CF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62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D5B6A-5EA3-48BE-AB13-9FFF1E0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09F943-CBB3-4B8F-AEF9-ADFFB041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REDO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94E49-4D1A-4002-AEE0-08544FB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B746F"/>
                </a:solidFill>
              </a:defRPr>
            </a:pPr>
            <a:r>
              <a:rPr sz="1350" b="0">
                <a:solidFill>
                  <a:srgbClr val="2B746F"/>
                </a:solidFill>
              </a:rPr>
              <a:t>show the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3D1EB-41E3-4502-8C02-6B7AE51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E171B0-94AF-48F7-A30C-5213F89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577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Do not chase every error. Make the next attempt better.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8F436-D354-4F68-A8E2-6BF10416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Speak · Think · Prove</a:t>
            </a:r>
          </a:p>
        </p:txBody>
      </p:sp>
    </p:spTree>
    <p:extLst>
      <p:ext uri="{BB962C8B-B14F-4D97-AF65-F5344CB8AC3E}">
        <p14:creationId xmlns:p14="http://schemas.microsoft.com/office/powerpoint/2010/main" val="16166870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52EC4-6982-480B-9AD7-A002A2EF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EFEFE"/>
          </a:solidFill>
          <a:ln xmlns:a="http://schemas.openxmlformats.org/drawingml/2006/main" w="0">
            <a:solidFill>
              <a:srgbClr val="FEFEF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F21A8-8398-4E29-9DB5-2094965E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zamery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3291F-513C-45E1-904C-901DCFF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5435"/>
                </a:solidFill>
              </a:defRPr>
            </a:pPr>
            <a:r>
              <a:rPr sz="900" b="0">
                <a:solidFill>
                  <a:srgbClr val="B85435"/>
                </a:solidFill>
              </a:rPr>
              <a:t>rooted in strength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B18E-5E8B-4463-ACEF-E311181B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</a:defRPr>
            </a:pPr>
            <a:r>
              <a:rPr sz="900" b="1">
                <a:solidFill>
                  <a:srgbClr val="2B746F"/>
                </a:solidFill>
              </a:rPr>
              <a:t>CLASSROOM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91711-C254-4728-92F1-24A01DEC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73FAA-CA71-4846-B5D8-210D28F5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DE0F0-1867-433B-B85F-7F07B28B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435"/>
                </a:solidFill>
              </a:defRPr>
            </a:pPr>
            <a:r>
              <a:rPr sz="1050" b="1">
                <a:solidFill>
                  <a:srgbClr val="B85435"/>
                </a:solidFill>
              </a:rPr>
              <a:t>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AA7AC-7612-4A1A-8D8A-3E1B1F2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AEE48-A1C4-40F4-BCB8-78B891A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746F"/>
                </a:solidFill>
              </a:defRPr>
            </a:pPr>
            <a:r>
              <a:rPr sz="1500" b="0">
                <a:solidFill>
                  <a:srgbClr val="2B746F"/>
                </a:solidFill>
              </a:rPr>
              <a:t>Show what you can decide now.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52E3F-7E70-4276-8677-8A08E6AD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191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FAB00-DC73-45A1-B7CB-6A6658A8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02C1E-5380-4C98-95BA-24431CA3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She ______ (watch) TV after dinner.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02EBB-ED68-4FFB-83C3-62367AE6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6191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B746F"/>
          </a:solidFill>
          <a:ln xmlns:a="http://schemas.openxmlformats.org/drawingml/2006/main" w="0">
            <a:solidFill>
              <a:srgbClr val="2B74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288FE-FEF1-4948-B84A-DDF9637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3E767-7AB1-4EAB-BEED-296E7E68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8612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Put usually in the right place: I go online after school.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793C9-42B9-4238-9D70-0FD9F486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619125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B85435"/>
          </a:solidFill>
          <a:ln xmlns:a="http://schemas.openxmlformats.org/drawingml/2006/main" w="0">
            <a:solidFill>
              <a:srgbClr val="B854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BA61F0-86DC-4DA8-898B-F692ED22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68E2-D04C-4246-8C76-59CEBDAE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Write one rule that helps you choose the verb form.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AAFB1-AF4D-4A7F-8CCF-7D473BFF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210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EEE4"/>
          </a:solidFill>
          <a:ln xmlns:a="http://schemas.openxmlformats.org/drawingml/2006/main" w="0">
            <a:solidFill>
              <a:srgbClr val="F4EE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B6734-7475-458A-9C27-1CF4D28C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054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5435"/>
                </a:solidFill>
              </a:defRPr>
            </a:pPr>
            <a:r>
              <a:rPr sz="1650" b="1">
                <a:solidFill>
                  <a:srgbClr val="B85435"/>
                </a:solidFill>
              </a:rPr>
              <a:t>Homework: 8–10 sentences + a 60–90 second audio from keywords.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1C503-051B-479E-8905-99935E6A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24D"/>
                </a:solidFill>
              </a:defRPr>
            </a:pPr>
            <a:r>
              <a:rPr sz="825" b="1">
                <a:solidFill>
                  <a:srgbClr val="17324D"/>
                </a:solidFill>
              </a:rPr>
              <a:t>Next review: within 48–72 hours</a:t>
            </a:r>
          </a:p>
        </p:txBody>
      </p:sp>
    </p:spTree>
    <p:extLst>
      <p:ext uri="{BB962C8B-B14F-4D97-AF65-F5344CB8AC3E}">
        <p14:creationId xmlns:p14="http://schemas.microsoft.com/office/powerpoint/2010/main" val="260515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2026-07-14T13:01:13.8590000Z</dcterms:created>
  <dcterms:modified xsi:type="dcterms:W3CDTF">2026-07-14T13:01:13.8590000Z</dcterms:modified>
</coreProperties>
</file>